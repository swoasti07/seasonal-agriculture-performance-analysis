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3" userDrawn="1">
          <p15:clr>
            <a:srgbClr val="A4A3A4"/>
          </p15:clr>
        </p15:guide>
        <p15:guide id="2" pos="416" userDrawn="1">
          <p15:clr>
            <a:srgbClr val="A4A3A4"/>
          </p15:clr>
        </p15:guide>
        <p15:guide id="3" orient="horz" pos="3891" userDrawn="1">
          <p15:clr>
            <a:srgbClr val="A4A3A4"/>
          </p15:clr>
        </p15:guide>
        <p15:guide id="4" pos="7272" userDrawn="1">
          <p15:clr>
            <a:srgbClr val="A4A3A4"/>
          </p15:clr>
        </p15:guide>
        <p15:guide id="5" orient="horz" pos="16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43"/>
        <p:guide pos="416"/>
        <p:guide orient="horz" pos="3891"/>
        <p:guide pos="7272"/>
        <p:guide orient="horz" pos="1628"/>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9.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0.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hyperlink" Target="https://github.com/Swoasti07/Seasonal-Agriculture-Performance-Analysis" TargetMode="Externa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1.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222885" y="3257550"/>
            <a:ext cx="8474710" cy="1188085"/>
          </a:xfrm>
        </p:spPr>
        <p:txBody>
          <a:bodyPr vert="horz" lIns="91440" tIns="45720" rIns="91440" bIns="45720" rtlCol="0" anchor="t">
            <a:normAutofit/>
          </a:bodyPr>
          <a:lstStyle/>
          <a:p>
            <a:pPr algn="r"/>
            <a:r>
              <a:rPr lang="en-US" sz="2400" b="0" i="1" dirty="0">
                <a:solidFill>
                  <a:schemeClr val="tx1"/>
                </a:solidFill>
              </a:rPr>
              <a:t>Student Name - Swoasti Bhattacharjee						   </a:t>
            </a:r>
            <a:endParaRPr lang="en-IN" sz="2400" b="0" i="1" dirty="0">
              <a:solidFill>
                <a:schemeClr val="tx1"/>
              </a:solidFill>
            </a:endParaRPr>
          </a:p>
          <a:p>
            <a:pPr algn="r"/>
            <a:r>
              <a:rPr lang="en-US" sz="2400" b="0" i="1" dirty="0">
                <a:solidFill>
                  <a:schemeClr val="tx1"/>
                </a:solidFill>
              </a:rPr>
              <a:t>College Name - Kalinga Institute of Industrial Technology</a:t>
            </a:r>
            <a:endParaRPr lang="en-US" sz="2400" b="0" i="1" dirty="0">
              <a:solidFill>
                <a:schemeClr val="tx1"/>
              </a:solidFill>
            </a:endParaRPr>
          </a:p>
        </p:txBody>
      </p:sp>
      <p:sp>
        <p:nvSpPr>
          <p:cNvPr id="4" name="Title 3"/>
          <p:cNvSpPr>
            <a:spLocks noGrp="1"/>
          </p:cNvSpPr>
          <p:nvPr>
            <p:ph type="title"/>
          </p:nvPr>
        </p:nvSpPr>
        <p:spPr>
          <a:xfrm>
            <a:off x="254635" y="2583815"/>
            <a:ext cx="9457690" cy="1000760"/>
          </a:xfrm>
        </p:spPr>
        <p:txBody>
          <a:bodyPr>
            <a:noAutofit/>
          </a:bodyPr>
          <a:lstStyle/>
          <a:p>
            <a:r>
              <a:rPr lang="en-US" altLang="en-US" sz="3100" b="1" u="sng" dirty="0"/>
              <a:t>Seasonal Agriculture Performance Analysis</a:t>
            </a:r>
            <a:endParaRPr lang="en-US" altLang="en-US" sz="3100" b="1" u="sng" dirty="0"/>
          </a:p>
        </p:txBody>
      </p:sp>
      <p:sp>
        <p:nvSpPr>
          <p:cNvPr id="15" name="Text Placeholder 1"/>
          <p:cNvSpPr txBox="1"/>
          <p:nvPr/>
        </p:nvSpPr>
        <p:spPr>
          <a:xfrm>
            <a:off x="6400800" y="28575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356235" y="4333875"/>
            <a:ext cx="5739765" cy="368300"/>
          </a:xfrm>
          <a:prstGeom prst="rect">
            <a:avLst/>
          </a:prstGeom>
          <a:noFill/>
        </p:spPr>
        <p:txBody>
          <a:bodyPr wrap="square" rtlCol="0">
            <a:spAutoFit/>
          </a:bodyPr>
          <a:lstStyle/>
          <a:p>
            <a:r>
              <a:rPr lang="en-US" b="1" dirty="0"/>
              <a:t>AICTE STU ID : </a:t>
            </a:r>
            <a:r>
              <a:rPr lang="en-US" altLang="en-US" b="1" dirty="0"/>
              <a:t>STU6a5f3bb6e2e4e1784626102</a:t>
            </a:r>
            <a:endParaRPr lang="en-US"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54380" y="1161415"/>
            <a:ext cx="7444105" cy="4947285"/>
          </a:xfrm>
        </p:spPr>
        <p:txBody>
          <a:bodyPr vert="horz" lIns="91440" tIns="45720" rIns="91440" bIns="45720" rtlCol="0" anchor="t">
            <a:noAutofit/>
          </a:bodyPr>
          <a:lstStyle/>
          <a:p>
            <a:pPr marL="0" indent="0" algn="just">
              <a:lnSpc>
                <a:spcPct val="140000"/>
              </a:lnSpc>
              <a:buNone/>
            </a:pPr>
            <a:r>
              <a:rPr lang="en-US" altLang="en-US" dirty="0"/>
              <a:t>Agricultural activities are influenced by seasonal variations in environmental conditions, farming practices, resource availability and market conditions. As a result, agricultural performance may differ from one season to another. </a:t>
            </a:r>
            <a:endParaRPr lang="en-US" altLang="en-US" dirty="0"/>
          </a:p>
          <a:p>
            <a:pPr marL="0" indent="0" algn="just">
              <a:lnSpc>
                <a:spcPct val="140000"/>
              </a:lnSpc>
              <a:buNone/>
            </a:pPr>
            <a:r>
              <a:rPr lang="en-US" altLang="en-US" dirty="0"/>
              <a:t>However, raw agricultural data does not clearly explain how agricultural performance changes across seasons or what patterns can be observed in different seasonal conditions. </a:t>
            </a:r>
            <a:endParaRPr lang="en-US" altLang="en-US" dirty="0"/>
          </a:p>
          <a:p>
            <a:pPr marL="0" indent="0" algn="just">
              <a:lnSpc>
                <a:spcPct val="140000"/>
              </a:lnSpc>
              <a:buNone/>
            </a:pPr>
            <a:r>
              <a:rPr lang="en-US" altLang="en-US" dirty="0"/>
              <a:t>The problem is to analyze the given agricultural dataset and investigate seasonal differences in agricultural performance by identifying meaningful patterns, trends, relationships and variations within the available data.</a:t>
            </a:r>
            <a:endParaRPr lang="en-US" altLang="en-US"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75640" y="520065"/>
            <a:ext cx="8417560" cy="989330"/>
          </a:xfrm>
        </p:spPr>
        <p:txBody>
          <a:bodyPr>
            <a:normAutofit fontScale="90000"/>
          </a:bodyPr>
          <a:lstStyle/>
          <a:p>
            <a:r>
              <a:rPr lang="en-GB" sz="5000" dirty="0"/>
              <a:t>Project Description</a:t>
            </a:r>
            <a:br>
              <a:rPr lang="en-GB" sz="5000" dirty="0"/>
            </a:br>
            <a:br>
              <a:rPr lang="en-GB" dirty="0"/>
            </a:br>
            <a:r>
              <a:rPr lang="en-US" altLang="en-US" sz="2445" b="0" dirty="0"/>
              <a:t>Seasonal Agriculture Performance Analysis is a data analytics project that examines how agricultural performance varies across the Kharif, Rabi, and Zaid seasons. The project involves data cleaning, exploratory data analysis, and visualization to study crop yield, profitability, irrigation practices, and environmental factors. By comparing seasonal trends and identifying relationships between farming conditions and outcomes, the analysis uncovers key patterns affecting agricultural productivity. The insights generated can support better resource management, crop planning, and data-driven decision-making in agriculture.</a:t>
            </a:r>
            <a:endParaRPr lang="en-US" altLang="en-US" sz="2445" b="0"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60" y="1991360"/>
            <a:ext cx="9413875" cy="4443730"/>
          </a:xfrm>
        </p:spPr>
        <p:txBody>
          <a:bodyPr>
            <a:noAutofit/>
          </a:bodyPr>
          <a:lstStyle/>
          <a:p>
            <a:pPr algn="just">
              <a:lnSpc>
                <a:spcPct val="150000"/>
              </a:lnSpc>
            </a:pPr>
            <a:r>
              <a:rPr>
                <a:sym typeface="+mn-ea"/>
              </a:rPr>
              <a:t>Farmers — season-specific guidance on irrigation method and crop choice</a:t>
            </a:r>
            <a:endParaRPr lang="en-IN" dirty="0"/>
          </a:p>
          <a:p>
            <a:pPr algn="just">
              <a:lnSpc>
                <a:spcPct val="150000"/>
              </a:lnSpc>
            </a:pPr>
            <a:r>
              <a:rPr>
                <a:sym typeface="+mn-ea"/>
              </a:rPr>
              <a:t>Agricultural policymakers — evidence for seasonal planning and support schemes</a:t>
            </a:r>
          </a:p>
          <a:p>
            <a:pPr algn="just">
              <a:lnSpc>
                <a:spcPct val="150000"/>
              </a:lnSpc>
            </a:pPr>
            <a:r>
              <a:rPr>
                <a:sym typeface="+mn-ea"/>
              </a:rPr>
              <a:t>Agribusiness &amp; agri-input companies — demand planning by season and crop</a:t>
            </a:r>
          </a:p>
          <a:p>
            <a:pPr algn="just">
              <a:lnSpc>
                <a:spcPct val="150000"/>
              </a:lnSpc>
            </a:pPr>
            <a:r>
              <a:rPr>
                <a:sym typeface="+mn-ea"/>
              </a:rPr>
              <a:t>Financial institutions &amp; crop insurers — risk assessment by season</a:t>
            </a:r>
          </a:p>
          <a:p>
            <a:pPr algn="just">
              <a:lnSpc>
                <a:spcPct val="150000"/>
              </a:lnSpc>
            </a:pPr>
            <a:r>
              <a:rPr>
                <a:sym typeface="+mn-ea"/>
              </a:rPr>
              <a:t>Researchers &amp; data analysts — a reference seasonal performance</a:t>
            </a:r>
            <a:r>
              <a:rPr lang="en-US">
                <a:sym typeface="+mn-ea"/>
              </a:rPr>
              <a:t> data</a:t>
            </a:r>
            <a:r>
              <a:rPr>
                <a:sym typeface="+mn-ea"/>
              </a:rPr>
              <a:t> dataset</a:t>
            </a:r>
          </a:p>
          <a:p>
            <a:pPr marL="0" indent="0" algn="just">
              <a:lnSpc>
                <a:spcPct val="150000"/>
              </a:lnSpc>
              <a:buNone/>
            </a:pPr>
            <a:endParaRPr lang="en-IN"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0618" y="1432560"/>
            <a:ext cx="9027702" cy="5243448"/>
          </a:xfrm>
        </p:spPr>
        <p:txBody>
          <a:bodyPr/>
          <a:lstStyle/>
          <a:p>
            <a:pPr>
              <a:lnSpc>
                <a:spcPct val="150000"/>
              </a:lnSpc>
            </a:pPr>
            <a:r>
              <a:rPr sz="2400">
                <a:sym typeface="+mn-ea"/>
              </a:rPr>
              <a:t>Python — core analysis language</a:t>
            </a:r>
            <a:endParaRPr sz="2400">
              <a:sym typeface="+mn-ea"/>
            </a:endParaRPr>
          </a:p>
          <a:p>
            <a:pPr>
              <a:lnSpc>
                <a:spcPct val="150000"/>
              </a:lnSpc>
            </a:pPr>
            <a:r>
              <a:rPr sz="2400">
                <a:sym typeface="+mn-ea"/>
              </a:rPr>
              <a:t>Pandas &amp; NumPy — data cleaning and manipulation</a:t>
            </a:r>
            <a:endParaRPr sz="2400">
              <a:sym typeface="+mn-ea"/>
            </a:endParaRPr>
          </a:p>
          <a:p>
            <a:pPr>
              <a:lnSpc>
                <a:spcPct val="150000"/>
              </a:lnSpc>
            </a:pPr>
            <a:r>
              <a:rPr sz="2400">
                <a:sym typeface="+mn-ea"/>
              </a:rPr>
              <a:t>Matplotlib &amp; Seaborn — data visualization</a:t>
            </a:r>
            <a:endParaRPr sz="2400">
              <a:sym typeface="+mn-ea"/>
            </a:endParaRPr>
          </a:p>
          <a:p>
            <a:pPr>
              <a:lnSpc>
                <a:spcPct val="150000"/>
              </a:lnSpc>
            </a:pPr>
            <a:r>
              <a:rPr sz="2400">
                <a:sym typeface="+mn-ea"/>
              </a:rPr>
              <a:t>Jupyter Notebook — documented, reproducible analysis workflow</a:t>
            </a:r>
            <a:endParaRPr sz="2400"/>
          </a:p>
          <a:p>
            <a:pPr lvl="1">
              <a:lnSpc>
                <a:spcPct val="150000"/>
              </a:lnSpc>
            </a:pPr>
            <a:endParaRPr lang="en-IN" sz="2400" dirty="0"/>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085" y="1200785"/>
            <a:ext cx="7250430" cy="476250"/>
          </a:xfrm>
        </p:spPr>
        <p:txBody>
          <a:bodyPr vert="horz" lIns="91440" tIns="45720" rIns="91440" bIns="45720" rtlCol="0" anchor="t">
            <a:normAutofit/>
          </a:bodyPr>
          <a:lstStyle/>
          <a:p>
            <a:pPr marL="0" indent="0">
              <a:buNone/>
            </a:pPr>
            <a:r>
              <a:rPr lang="en-US" b="1" dirty="0">
                <a:sym typeface="+mn-ea"/>
              </a:rPr>
              <a:t>Crop Yield Differs Significantly Across Seasons</a:t>
            </a:r>
            <a:endParaRPr lang="en-IN" dirty="0"/>
          </a:p>
          <a:p>
            <a:pPr marL="0" indent="0">
              <a:buNone/>
            </a:pPr>
            <a:endParaRPr lang="en-IN" dirty="0"/>
          </a:p>
        </p:txBody>
      </p:sp>
      <p:pic>
        <p:nvPicPr>
          <p:cNvPr id="2" name="Picture 1"/>
          <p:cNvPicPr>
            <a:picLocks noChangeAspect="1"/>
          </p:cNvPicPr>
          <p:nvPr/>
        </p:nvPicPr>
        <p:blipFill>
          <a:blip r:embed="rId2"/>
          <a:stretch>
            <a:fillRect/>
          </a:stretch>
        </p:blipFill>
        <p:spPr>
          <a:xfrm>
            <a:off x="1180465" y="1677035"/>
            <a:ext cx="8789035" cy="4987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675640" y="1201420"/>
            <a:ext cx="9845040" cy="570865"/>
          </a:xfrm>
        </p:spPr>
        <p:txBody>
          <a:bodyPr>
            <a:normAutofit/>
          </a:bodyPr>
          <a:lstStyle/>
          <a:p>
            <a:pPr marL="0" indent="0">
              <a:buNone/>
            </a:pPr>
            <a:r>
              <a:rPr lang="en-US" b="1" dirty="0">
                <a:sym typeface="+mn-ea"/>
              </a:rPr>
              <a:t>Profitability Declines Sharply From Kharif to Zaid</a:t>
            </a:r>
            <a:endParaRPr lang="en-IN" dirty="0"/>
          </a:p>
          <a:p>
            <a:pPr marL="0" indent="0">
              <a:buNone/>
            </a:pPr>
            <a:endParaRPr lang="en-IN" dirty="0"/>
          </a:p>
        </p:txBody>
      </p:sp>
      <p:pic>
        <p:nvPicPr>
          <p:cNvPr id="2" name="Picture 1"/>
          <p:cNvPicPr>
            <a:picLocks noChangeAspect="1"/>
          </p:cNvPicPr>
          <p:nvPr/>
        </p:nvPicPr>
        <p:blipFill>
          <a:blip r:embed="rId2"/>
          <a:stretch>
            <a:fillRect/>
          </a:stretch>
        </p:blipFill>
        <p:spPr>
          <a:xfrm>
            <a:off x="320675" y="1941195"/>
            <a:ext cx="11591925" cy="4622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675640" y="1201420"/>
            <a:ext cx="10065385" cy="654685"/>
          </a:xfrm>
        </p:spPr>
        <p:txBody>
          <a:bodyPr>
            <a:normAutofit/>
          </a:bodyPr>
          <a:lstStyle/>
          <a:p>
            <a:pPr marL="0" indent="0">
              <a:buNone/>
            </a:pPr>
            <a:r>
              <a:rPr lang="en-US" b="1" dirty="0">
                <a:sym typeface="+mn-ea"/>
              </a:rPr>
              <a:t>Irrigation Method Effectiveness Depends on Season</a:t>
            </a:r>
            <a:endParaRPr lang="en-IN" dirty="0"/>
          </a:p>
          <a:p>
            <a:pPr marL="0" indent="0">
              <a:buNone/>
            </a:pPr>
            <a:endParaRPr lang="en-IN" dirty="0"/>
          </a:p>
        </p:txBody>
      </p:sp>
      <p:pic>
        <p:nvPicPr>
          <p:cNvPr id="2" name="Picture 1"/>
          <p:cNvPicPr>
            <a:picLocks noChangeAspect="1"/>
          </p:cNvPicPr>
          <p:nvPr/>
        </p:nvPicPr>
        <p:blipFill>
          <a:blip r:embed="rId2"/>
          <a:stretch>
            <a:fillRect/>
          </a:stretch>
        </p:blipFill>
        <p:spPr>
          <a:xfrm>
            <a:off x="416560" y="1626870"/>
            <a:ext cx="10916920" cy="5038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675640" y="1201420"/>
            <a:ext cx="9297670" cy="446405"/>
          </a:xfrm>
        </p:spPr>
        <p:txBody>
          <a:bodyPr>
            <a:normAutofit/>
          </a:bodyPr>
          <a:lstStyle/>
          <a:p>
            <a:pPr marL="0" indent="0">
              <a:buNone/>
            </a:pPr>
            <a:r>
              <a:rPr lang="en-US" b="1" dirty="0">
                <a:sym typeface="+mn-ea"/>
              </a:rPr>
              <a:t>Water-Use Efficiency Varies by Season</a:t>
            </a:r>
            <a:endParaRPr lang="en-IN" dirty="0"/>
          </a:p>
          <a:p>
            <a:pPr marL="0" indent="0">
              <a:buNone/>
            </a:pPr>
            <a:endParaRPr lang="en-IN" dirty="0"/>
          </a:p>
        </p:txBody>
      </p:sp>
      <p:pic>
        <p:nvPicPr>
          <p:cNvPr id="2" name="Picture 1"/>
          <p:cNvPicPr>
            <a:picLocks noChangeAspect="1"/>
          </p:cNvPicPr>
          <p:nvPr/>
        </p:nvPicPr>
        <p:blipFill>
          <a:blip r:embed="rId2"/>
          <a:stretch>
            <a:fillRect/>
          </a:stretch>
        </p:blipFill>
        <p:spPr>
          <a:xfrm>
            <a:off x="1006475" y="1590040"/>
            <a:ext cx="8635365" cy="5074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675640" y="1201420"/>
            <a:ext cx="9987915" cy="708025"/>
          </a:xfrm>
        </p:spPr>
        <p:txBody>
          <a:bodyPr/>
          <a:lstStyle/>
          <a:p>
            <a:pPr marL="0" indent="0">
              <a:buNone/>
            </a:pPr>
            <a:r>
              <a:rPr lang="en-US" altLang="en-IN" b="1" dirty="0"/>
              <a:t>Crop Profitability by Season</a:t>
            </a:r>
            <a:endParaRPr lang="en-US" altLang="en-IN" b="1" dirty="0"/>
          </a:p>
        </p:txBody>
      </p:sp>
      <p:pic>
        <p:nvPicPr>
          <p:cNvPr id="2" name="Picture 1"/>
          <p:cNvPicPr>
            <a:picLocks noChangeAspect="1"/>
          </p:cNvPicPr>
          <p:nvPr/>
        </p:nvPicPr>
        <p:blipFill>
          <a:blip r:embed="rId2"/>
          <a:stretch>
            <a:fillRect/>
          </a:stretch>
        </p:blipFill>
        <p:spPr>
          <a:xfrm>
            <a:off x="1279525" y="1666240"/>
            <a:ext cx="8648700" cy="48971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795020" y="1275080"/>
            <a:ext cx="8324215" cy="483806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gn="just"/>
            <a:r>
              <a:rPr lang="en-US" altLang="en-US" sz="2000" dirty="0"/>
              <a:t>The analysis can be extended by incorporating multi-year agricultural data to identify long-term seasonal trends and improve the reliability of insights. Machine learning models can be developed to predict crop yield and profitability based on environmental and farming conditions. Future work may also include region-wise analysis to examine whether seasonal patterns remain consistent across different geographical areas. Integration of real-time weather and market data could further enhance decision-making and agricultural planning. Additionally, interactive dashboards can be developed to provide farmers and policymakers with actionable, data-driven recommendations for resource allocation and crop selection.</a:t>
            </a:r>
            <a:endParaRPr lang="en-US" altLang="en-US" sz="2000" dirty="0"/>
          </a:p>
          <a:p>
            <a:pPr algn="just"/>
            <a:r>
              <a:rPr lang="en-US" altLang="en-US" sz="2000" dirty="0"/>
              <a:t>This future scope aligns well with the project's objective of understanding seasonal agricultural performance and supporting evidence-based agricultural planning.</a:t>
            </a:r>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901065" y="1275080"/>
            <a:ext cx="6275070" cy="104584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US" sz="2000" dirty="0">
                <a:solidFill>
                  <a:srgbClr val="FF0000"/>
                </a:solidFill>
                <a:hlinkClick r:id="rId2" tooltip="" action="ppaction://hlinkfile"/>
              </a:rPr>
              <a:t>https://github.com/Swoasti07/Seasonal-Agriculture-Performance-Analysis</a:t>
            </a:r>
            <a:endParaRPr lang="en-US" altLang="en-US" sz="2000" dirty="0">
              <a:solidFill>
                <a:srgbClr val="FF0000"/>
              </a:solidFill>
              <a:hlinkClick r:id="rId2" tooltip="" action="ppaction://hlinkfile"/>
            </a:endParaRPr>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370840"/>
            <a:ext cx="10640695" cy="884555"/>
          </a:xfrm>
        </p:spPr>
        <p:txBody>
          <a:bodyPr>
            <a:normAutofit fontScale="90000"/>
          </a:bodyPr>
          <a:lstStyle/>
          <a:p>
            <a:r>
              <a:rPr lang="en-IN" sz="3200" dirty="0"/>
              <a:t>VOIS Course completion certificate - </a:t>
            </a:r>
            <a:br>
              <a:rPr lang="en-IN" sz="3200" dirty="0"/>
            </a:br>
            <a:r>
              <a:rPr lang="en-IN" sz="3200" dirty="0"/>
              <a:t>Course name-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descr="Certificate (1)_page-0001"/>
          <p:cNvPicPr>
            <a:picLocks noChangeAspect="1"/>
          </p:cNvPicPr>
          <p:nvPr/>
        </p:nvPicPr>
        <p:blipFill>
          <a:blip r:embed="rId2"/>
          <a:stretch>
            <a:fillRect/>
          </a:stretch>
        </p:blipFill>
        <p:spPr>
          <a:xfrm>
            <a:off x="874395" y="1457325"/>
            <a:ext cx="7086600" cy="50145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567940" y="2462530"/>
            <a:ext cx="7193280" cy="700405"/>
          </a:xfrm>
          <a:prstGeom prst="rect">
            <a:avLst/>
          </a:prstGeom>
        </p:spPr>
        <p:txBody>
          <a:bodyPr anchor="ctr">
            <a:noAutofit/>
          </a:bodyPr>
          <a:lstStyle/>
          <a:p>
            <a:pPr algn="ctr"/>
            <a:r>
              <a:rPr lang="en-US" sz="9600" b="1" dirty="0">
                <a:solidFill>
                  <a:schemeClr val="tx1"/>
                </a:solidFill>
              </a:rPr>
              <a:t>Thank you</a:t>
            </a:r>
            <a:endParaRPr lang="en-US" sz="96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3359</Words>
  <Application>WPS Presentation</Application>
  <PresentationFormat>Widescreen</PresentationFormat>
  <Paragraphs>73</Paragraphs>
  <Slides>14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Wingdings 3</vt:lpstr>
      <vt:lpstr>Arial</vt:lpstr>
      <vt:lpstr>Calibri</vt:lpstr>
      <vt:lpstr>Trebuchet MS</vt:lpstr>
      <vt:lpstr>Microsoft YaHei</vt:lpstr>
      <vt:lpstr>Arial Unicode MS</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KIIT</cp:lastModifiedBy>
  <cp:revision>99</cp:revision>
  <dcterms:created xsi:type="dcterms:W3CDTF">2021-07-11T13:13:00Z</dcterms:created>
  <dcterms:modified xsi:type="dcterms:W3CDTF">2026-09-04T13:16:23Z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1033-12.1.0.28032</vt:lpwstr>
  </property>
  <property fmtid="{D5CDD505-2E9C-101B-9397-08002B2CF9AE}" pid="4" name="ICV">
    <vt:lpwstr>D878648EFC794CC3B5F0BB018F6C1210_12</vt:lpwstr>
  </property>
</Properties>
</file>